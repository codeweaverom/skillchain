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27AE60"/>
    <a:srgbClr val="FFF9E3"/>
    <a:srgbClr val="E6D8C3"/>
    <a:srgbClr val="000000"/>
    <a:srgbClr val="F5F5F0"/>
    <a:srgbClr val="5D866C"/>
    <a:srgbClr val="C2A6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525886-FDF6-4891-AF7C-695B00CFFE17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0FE486-9929-4D62-96DB-89F869E983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677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FE486-9929-4D62-96DB-89F869E9830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679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CE5D4-704D-5816-64F4-3A4DCCA3B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79F7B-564C-C433-029F-953219E93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AB3391-2FFF-936B-D6F0-F0C206E3F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B4D0F-8C0B-F5C4-7B20-EBF145D46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FE486-9929-4D62-96DB-89F869E9830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752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BFED3-FA35-8507-8C35-DC83DBCC3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67852A-72AB-8E76-3C20-9E8A3EC3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33D3D-7009-823A-7502-ED4C2C73E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4A624-D218-2105-56E2-1D5786F74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FE486-9929-4D62-96DB-89F869E9830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115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B1B1F-1A9C-17F5-3718-9B96B2591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5F4FB3-1EFD-CBB9-7A81-281F6CAE8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247A1-4ED5-8562-7F83-8B77051EE0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51D54-D552-2EDF-FFE8-4EF63A4176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FE486-9929-4D62-96DB-89F869E9830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232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214A3-A147-01D3-C6AB-8FD6423B7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908A0C-EF4F-8071-862C-AC38749EF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329527-01A4-2B5E-1763-B2325B2F5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1C871-4755-EB86-103C-5E64ED1A5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0FE486-9929-4D62-96DB-89F869E9830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54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7536-1FA5-8D45-73A7-66BB88CC7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80B8B5-9762-5695-3022-0D1F69F80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23BD7-5737-791A-16E6-A4CADEDFA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BBDA-FEE3-4216-B34A-E4D9279211E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26B9B-42E6-426B-0B8F-1C5D0BB8F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348F5-E527-D1C8-C704-65A233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02FE-3D5A-4914-AED0-42ACD9F01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953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D0675-11BC-20EA-ED80-7441E96DE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90AD7-28B5-9BC6-C85D-9320F8001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AC022-0247-D66A-1AED-1AF84CC0A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BBDA-FEE3-4216-B34A-E4D9279211E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36C37-3076-D895-F505-980EAC528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92E58-BE43-F73D-B758-CFB4D0AB1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02FE-3D5A-4914-AED0-42ACD9F01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283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00242-981D-7332-C5B4-CCC6560B4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ACDB9-F879-BE1C-FCCB-76EC26FDE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69CF85-A741-FE6A-06E7-F44A94113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BBDA-FEE3-4216-B34A-E4D9279211E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E0506-73D8-5B44-9AC2-F3E0EBD21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7CB64-51B6-E543-284C-5C4C10774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02FE-3D5A-4914-AED0-42ACD9F01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018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7E8AA-4680-3B84-2D57-9D5BA9984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46C05-9B61-7435-63CB-38F3AD15B8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AA5A4-BEBC-CBB9-E59C-D47F30B01B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E107E-5725-C51A-EDD9-04A08A544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BBDA-FEE3-4216-B34A-E4D9279211E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72EFF8-C543-4130-2615-86E21B8E9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B6D78A-E351-1E76-146F-EE4DEF36B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02FE-3D5A-4914-AED0-42ACD9F01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620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21378-FD21-7778-3DD8-4D38E1899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D643B-EB26-C941-3823-5F000A4BD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DF698-3FDA-1D22-FBB3-C1CFADD0F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E74ECB-2180-4BEA-2467-13D475B5D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E793F1-1300-C586-B440-419D6ADAAD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46B0F9-1B10-144C-8224-92345EAA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BBDA-FEE3-4216-B34A-E4D9279211E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69AED3-4C49-4FB3-3F90-93784021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D3B071-6612-AA20-E48B-FE22938A9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02FE-3D5A-4914-AED0-42ACD9F01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007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ECF02-6656-9137-03FA-0FACA3319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FCB2D9-9689-F795-D36E-2FD61675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BBDA-FEE3-4216-B34A-E4D9279211E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BE5EA-3857-A223-0C7D-0ABAA3352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7994F-9907-CED3-F420-5BB2E56A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02FE-3D5A-4914-AED0-42ACD9F01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610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69B1A4-D9DE-2637-23F0-45B59D1A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BBDA-FEE3-4216-B34A-E4D9279211E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981D1C-A84B-B61D-B304-4987CF45B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6277D-C4E9-3A2A-F236-A6AA18FA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02FE-3D5A-4914-AED0-42ACD9F01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910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6F42-3B5D-DE9B-42D6-6636E996B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840B5-DC6C-E130-5EA7-A4A41EEC3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2CF4BA-F995-A262-C9D5-B3D43B44F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4D94D4-43CB-96D1-8DB4-5ED0579DC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BBDA-FEE3-4216-B34A-E4D9279211E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8D66F-D6DD-E8C7-172D-4B37422C3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BCE77-ECF3-3EB5-3182-F921BD7F8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02FE-3D5A-4914-AED0-42ACD9F01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682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97530-82F2-2429-A381-37A484B5F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F4C288-46F6-A30E-5538-8EFEFBB7B4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441303-F34C-AFE2-2BF5-038FDAE8A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8B71E-1F3B-9156-2F42-F34B82F8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BBDA-FEE3-4216-B34A-E4D9279211E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064E7D-382D-7E4D-C434-7B68169AB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C087F-0D0B-59C0-16A1-BB64FDC19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02FE-3D5A-4914-AED0-42ACD9F01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363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2E772-C986-76D6-207F-966BDC8C8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261EC2-6A75-23AD-BDFD-C81E5B993E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4D97F-5575-7274-5793-3754571E1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BBDA-FEE3-4216-B34A-E4D9279211E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07DD1-81EF-D0D4-00D6-1F86FA815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15673-D4AB-0241-0EB7-B83462FEE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02FE-3D5A-4914-AED0-42ACD9F01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0377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EC646B-9955-335F-44CE-987D884F47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12296B-B5A4-CAE8-FAC8-192C57509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00157-00D1-0910-1E75-A64FAEFC1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7BBDA-FEE3-4216-B34A-E4D9279211E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7ED04-5844-5D4C-A72F-F5C3C9074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F7745-A78A-A3DA-C8F9-F192E697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502FE-3D5A-4914-AED0-42ACD9F01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3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0AAF1B-088A-358B-6565-459665840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F92460-2F4C-4F10-1AE6-B0EF4C82D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73A5B-6463-20CE-29FD-14E701949E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87BBDA-FEE3-4216-B34A-E4D9279211E6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73B65-CC8D-37FA-22DF-A7F63E204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7A60-95CF-CFC5-7E3A-7C3E0E7A0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2502FE-3D5A-4914-AED0-42ACD9F01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501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BB9A7386-8B87-1CA4-B176-C4897CB06C0D}"/>
              </a:ext>
            </a:extLst>
          </p:cNvPr>
          <p:cNvSpPr/>
          <p:nvPr/>
        </p:nvSpPr>
        <p:spPr>
          <a:xfrm>
            <a:off x="10515600" y="228601"/>
            <a:ext cx="1493520" cy="1478280"/>
          </a:xfrm>
          <a:custGeom>
            <a:avLst/>
            <a:gdLst/>
            <a:ahLst/>
            <a:cxnLst/>
            <a:rect l="l" t="t" r="r" b="b"/>
            <a:pathLst>
              <a:path w="1786124" h="1687887">
                <a:moveTo>
                  <a:pt x="0" y="0"/>
                </a:moveTo>
                <a:lnTo>
                  <a:pt x="1786124" y="0"/>
                </a:lnTo>
                <a:lnTo>
                  <a:pt x="1786124" y="1687888"/>
                </a:lnTo>
                <a:lnTo>
                  <a:pt x="0" y="1687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3E0652-BDBD-2529-D97A-D91952DF31E7}"/>
              </a:ext>
            </a:extLst>
          </p:cNvPr>
          <p:cNvSpPr txBox="1"/>
          <p:nvPr/>
        </p:nvSpPr>
        <p:spPr>
          <a:xfrm>
            <a:off x="1304297" y="259855"/>
            <a:ext cx="95834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27AE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SciTech Innovation Hackathon - 2025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F6A4D9-7ECD-2E5D-5548-59963ED02356}"/>
              </a:ext>
            </a:extLst>
          </p:cNvPr>
          <p:cNvSpPr txBox="1"/>
          <p:nvPr/>
        </p:nvSpPr>
        <p:spPr>
          <a:xfrm>
            <a:off x="2660348" y="1136899"/>
            <a:ext cx="68712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solidFill>
                  <a:srgbClr val="27AE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College</a:t>
            </a:r>
            <a:r>
              <a:rPr lang="en-US" sz="3000" b="1" dirty="0">
                <a:solidFill>
                  <a:srgbClr val="33333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: Pratibha Institute Of Business Management</a:t>
            </a:r>
            <a:endParaRPr lang="en-IN" sz="3000" b="1" dirty="0">
              <a:solidFill>
                <a:srgbClr val="333333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5C11CF-0094-DA7A-3746-80DAD6D93ECD}"/>
              </a:ext>
            </a:extLst>
          </p:cNvPr>
          <p:cNvSpPr txBox="1"/>
          <p:nvPr/>
        </p:nvSpPr>
        <p:spPr>
          <a:xfrm>
            <a:off x="2498842" y="2591392"/>
            <a:ext cx="71942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7AE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Project Name </a:t>
            </a:r>
            <a:r>
              <a:rPr lang="en-US" sz="2400" b="1" dirty="0">
                <a:solidFill>
                  <a:srgbClr val="33333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</a:t>
            </a:r>
            <a:r>
              <a:rPr lang="en-IN" sz="2400" b="1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SkillChain</a:t>
            </a:r>
            <a:endParaRPr lang="en-IN" sz="24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ctr"/>
            <a:r>
              <a:rPr lang="en-IN" sz="2400" b="1" dirty="0">
                <a:solidFill>
                  <a:srgbClr val="27AE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Problem Statement</a:t>
            </a:r>
            <a:r>
              <a:rPr lang="en-IN" sz="2400" dirty="0">
                <a:solidFill>
                  <a:srgbClr val="27AE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IN" sz="2400" dirty="0">
                <a:solidFill>
                  <a:srgbClr val="33333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8.1 </a:t>
            </a:r>
            <a:r>
              <a:rPr lang="en-IN" sz="24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Peer-to-Peer Skill Validation Platform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CA5A771-CFE4-9113-FB1F-D2BA4F5D3D51}"/>
              </a:ext>
            </a:extLst>
          </p:cNvPr>
          <p:cNvGrpSpPr/>
          <p:nvPr/>
        </p:nvGrpSpPr>
        <p:grpSpPr>
          <a:xfrm>
            <a:off x="2006503" y="2187311"/>
            <a:ext cx="8509095" cy="369332"/>
            <a:chOff x="2006505" y="2197803"/>
            <a:chExt cx="8509095" cy="36933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ACF1C23-667C-2DC5-5B1B-A89400C0F1F6}"/>
                </a:ext>
              </a:extLst>
            </p:cNvPr>
            <p:cNvCxnSpPr>
              <a:cxnSpLocks/>
            </p:cNvCxnSpPr>
            <p:nvPr/>
          </p:nvCxnSpPr>
          <p:spPr>
            <a:xfrm>
              <a:off x="2006505" y="2369253"/>
              <a:ext cx="329380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CBE03071-3349-D4BA-2160-76F0728EF785}"/>
                </a:ext>
              </a:extLst>
            </p:cNvPr>
            <p:cNvCxnSpPr>
              <a:cxnSpLocks/>
            </p:cNvCxnSpPr>
            <p:nvPr/>
          </p:nvCxnSpPr>
          <p:spPr>
            <a:xfrm>
              <a:off x="7221794" y="2369253"/>
              <a:ext cx="329380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51654B6-AB37-0BF0-CFC6-346492887EFE}"/>
                </a:ext>
              </a:extLst>
            </p:cNvPr>
            <p:cNvSpPr txBox="1"/>
            <p:nvPr/>
          </p:nvSpPr>
          <p:spPr>
            <a:xfrm>
              <a:off x="4476498" y="2197803"/>
              <a:ext cx="356910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333333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Project Details</a:t>
              </a:r>
              <a:endParaRPr lang="en-IN" dirty="0">
                <a:solidFill>
                  <a:srgbClr val="333333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E04D966-F4A4-D1E0-B078-4B71CE2E17A2}"/>
              </a:ext>
            </a:extLst>
          </p:cNvPr>
          <p:cNvGrpSpPr/>
          <p:nvPr/>
        </p:nvGrpSpPr>
        <p:grpSpPr>
          <a:xfrm>
            <a:off x="2006505" y="3836962"/>
            <a:ext cx="8509095" cy="830997"/>
            <a:chOff x="2006505" y="3861064"/>
            <a:chExt cx="8509095" cy="83099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EFC2919-2FDD-06D8-72B9-F5450C8F16CE}"/>
                </a:ext>
              </a:extLst>
            </p:cNvPr>
            <p:cNvGrpSpPr/>
            <p:nvPr/>
          </p:nvGrpSpPr>
          <p:grpSpPr>
            <a:xfrm>
              <a:off x="2006505" y="3861064"/>
              <a:ext cx="8509095" cy="369332"/>
              <a:chOff x="2006505" y="4264683"/>
              <a:chExt cx="8509095" cy="369332"/>
            </a:xfrm>
          </p:grpSpPr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A7706640-B505-F24C-90B0-9E681F0A16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06505" y="4461384"/>
                <a:ext cx="3293806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9A9A0D0-5015-BA76-EFB8-E363D3E25D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21794" y="4461384"/>
                <a:ext cx="3293806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EEE7B3E-26C6-86D4-09ED-53C0EA52DB9C}"/>
                  </a:ext>
                </a:extLst>
              </p:cNvPr>
              <p:cNvSpPr txBox="1"/>
              <p:nvPr/>
            </p:nvSpPr>
            <p:spPr>
              <a:xfrm>
                <a:off x="4476498" y="4264683"/>
                <a:ext cx="35691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Team Details</a:t>
                </a:r>
                <a:endParaRPr lang="en-IN" dirty="0">
                  <a:solidFill>
                    <a:srgbClr val="333333"/>
                  </a:solidFill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1DDFA67-A480-1A55-E79A-3D2F6B643E95}"/>
                </a:ext>
              </a:extLst>
            </p:cNvPr>
            <p:cNvSpPr txBox="1"/>
            <p:nvPr/>
          </p:nvSpPr>
          <p:spPr>
            <a:xfrm>
              <a:off x="2498843" y="4230396"/>
              <a:ext cx="71942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27AE60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Team Name </a:t>
              </a:r>
              <a:r>
                <a:rPr lang="en-US" sz="2400" b="1" dirty="0">
                  <a:solidFill>
                    <a:srgbClr val="333333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: PIBM </a:t>
              </a:r>
              <a:r>
                <a:rPr lang="en-US" sz="2400" b="1" dirty="0" err="1">
                  <a:solidFill>
                    <a:srgbClr val="333333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CodeClan</a:t>
              </a:r>
              <a:r>
                <a:rPr lang="en-US" sz="2400" b="1" dirty="0">
                  <a:solidFill>
                    <a:srgbClr val="333333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 </a:t>
              </a:r>
              <a:endParaRPr lang="en-IN" sz="24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DC97672-94DE-0CE6-B36C-3E0CD8EFCFC4}"/>
              </a:ext>
            </a:extLst>
          </p:cNvPr>
          <p:cNvGrpSpPr/>
          <p:nvPr/>
        </p:nvGrpSpPr>
        <p:grpSpPr>
          <a:xfrm>
            <a:off x="1145393" y="4713201"/>
            <a:ext cx="10569586" cy="2144799"/>
            <a:chOff x="1145393" y="4713201"/>
            <a:chExt cx="10569586" cy="2144799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95BC884-3204-3443-EA7E-6222CD22DFAC}"/>
                </a:ext>
              </a:extLst>
            </p:cNvPr>
            <p:cNvGrpSpPr/>
            <p:nvPr/>
          </p:nvGrpSpPr>
          <p:grpSpPr>
            <a:xfrm>
              <a:off x="1145393" y="5103674"/>
              <a:ext cx="10569586" cy="1754326"/>
              <a:chOff x="1145393" y="5103674"/>
              <a:chExt cx="10569586" cy="1754326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22E5E61-B5CE-DE04-222C-B650BD46882C}"/>
                  </a:ext>
                </a:extLst>
              </p:cNvPr>
              <p:cNvSpPr txBox="1"/>
              <p:nvPr/>
            </p:nvSpPr>
            <p:spPr>
              <a:xfrm>
                <a:off x="1145393" y="5103674"/>
                <a:ext cx="202184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Om Nimmalwar</a:t>
                </a:r>
              </a:p>
              <a:p>
                <a:r>
                  <a:rPr lang="en-US" dirty="0" err="1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Mca</a:t>
                </a:r>
                <a:r>
                  <a:rPr lang="en-US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1</a:t>
                </a:r>
                <a:r>
                  <a:rPr lang="en-US" baseline="30000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st</a:t>
                </a:r>
                <a:r>
                  <a:rPr lang="en-US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 year</a:t>
                </a:r>
              </a:p>
              <a:p>
                <a:r>
                  <a:rPr lang="en-US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7741802880</a:t>
                </a:r>
              </a:p>
              <a:p>
                <a:r>
                  <a:rPr lang="en-US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omnimmalwar32@gmai.com</a:t>
                </a:r>
              </a:p>
              <a:p>
                <a:endParaRPr lang="en-IN" dirty="0">
                  <a:solidFill>
                    <a:srgbClr val="333333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E7FA263-FD2D-D982-04C6-32E738F9AEBB}"/>
                  </a:ext>
                </a:extLst>
              </p:cNvPr>
              <p:cNvSpPr txBox="1"/>
              <p:nvPr/>
            </p:nvSpPr>
            <p:spPr>
              <a:xfrm>
                <a:off x="3994642" y="5103674"/>
                <a:ext cx="202184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AbdulHannan Shaikh</a:t>
                </a:r>
              </a:p>
              <a:p>
                <a:r>
                  <a:rPr lang="en-US" dirty="0" err="1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Mca</a:t>
                </a:r>
                <a:r>
                  <a:rPr lang="en-US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1</a:t>
                </a:r>
                <a:r>
                  <a:rPr lang="en-US" baseline="30000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st</a:t>
                </a:r>
                <a:r>
                  <a:rPr lang="en-US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 year</a:t>
                </a:r>
              </a:p>
              <a:p>
                <a:r>
                  <a:rPr lang="en-US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8459279029</a:t>
                </a:r>
              </a:p>
              <a:p>
                <a:r>
                  <a:rPr lang="en-US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hannanbshaikh1304@gmail.com</a:t>
                </a:r>
                <a:endParaRPr lang="en-IN" dirty="0">
                  <a:solidFill>
                    <a:srgbClr val="333333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AE3525-8D39-E790-010D-56A393921C78}"/>
                  </a:ext>
                </a:extLst>
              </p:cNvPr>
              <p:cNvSpPr txBox="1"/>
              <p:nvPr/>
            </p:nvSpPr>
            <p:spPr>
              <a:xfrm>
                <a:off x="6843891" y="5103674"/>
                <a:ext cx="202184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Devki Salvi</a:t>
                </a:r>
              </a:p>
              <a:p>
                <a:r>
                  <a:rPr lang="en-US" dirty="0" err="1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Mca</a:t>
                </a:r>
                <a:r>
                  <a:rPr lang="en-US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1</a:t>
                </a:r>
                <a:r>
                  <a:rPr lang="en-US" baseline="30000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st</a:t>
                </a:r>
                <a:r>
                  <a:rPr lang="en-US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 year</a:t>
                </a:r>
              </a:p>
              <a:p>
                <a:r>
                  <a:rPr lang="en-US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9322063509</a:t>
                </a:r>
              </a:p>
              <a:p>
                <a:r>
                  <a:rPr lang="en-US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devkisalvi2012@gmail.com</a:t>
                </a:r>
                <a:endParaRPr lang="en-IN" dirty="0">
                  <a:solidFill>
                    <a:srgbClr val="333333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454F495-0F78-C043-7E42-252515E7084E}"/>
                  </a:ext>
                </a:extLst>
              </p:cNvPr>
              <p:cNvSpPr txBox="1"/>
              <p:nvPr/>
            </p:nvSpPr>
            <p:spPr>
              <a:xfrm>
                <a:off x="9693139" y="5144228"/>
                <a:ext cx="202184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Sahil Sawant</a:t>
                </a:r>
              </a:p>
              <a:p>
                <a:r>
                  <a:rPr lang="en-US" dirty="0" err="1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Mca</a:t>
                </a:r>
                <a:r>
                  <a:rPr lang="en-US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1</a:t>
                </a:r>
                <a:r>
                  <a:rPr lang="en-US" baseline="30000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st</a:t>
                </a:r>
                <a:r>
                  <a:rPr lang="en-US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  year</a:t>
                </a:r>
              </a:p>
              <a:p>
                <a:r>
                  <a:rPr lang="en-US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7276207952</a:t>
                </a:r>
              </a:p>
              <a:p>
                <a:r>
                  <a:rPr lang="en-US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sahilsawant7276@gmail.com</a:t>
                </a:r>
                <a:endParaRPr lang="en-IN" dirty="0">
                  <a:solidFill>
                    <a:srgbClr val="333333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0F33376-1CC6-6497-8EC8-745EB20482D3}"/>
                </a:ext>
              </a:extLst>
            </p:cNvPr>
            <p:cNvGrpSpPr/>
            <p:nvPr/>
          </p:nvGrpSpPr>
          <p:grpSpPr>
            <a:xfrm>
              <a:off x="2006504" y="4713201"/>
              <a:ext cx="8509095" cy="369332"/>
              <a:chOff x="2006505" y="4264683"/>
              <a:chExt cx="8509095" cy="369332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868F2957-01DB-F956-D3F8-565AA2A054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06505" y="4461384"/>
                <a:ext cx="3293806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055A0D24-564B-5381-B7EB-6F5A18F5A6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21794" y="4461384"/>
                <a:ext cx="3293806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68BC4B6-59A1-11B4-EA1B-F7535BF288EB}"/>
                  </a:ext>
                </a:extLst>
              </p:cNvPr>
              <p:cNvSpPr txBox="1"/>
              <p:nvPr/>
            </p:nvSpPr>
            <p:spPr>
              <a:xfrm>
                <a:off x="4476498" y="4264683"/>
                <a:ext cx="35691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rgbClr val="333333"/>
                    </a:solidFill>
                    <a:latin typeface="ADLaM Display" panose="02010000000000000000" pitchFamily="2" charset="0"/>
                    <a:ea typeface="ADLaM Display" panose="02010000000000000000" pitchFamily="2" charset="0"/>
                    <a:cs typeface="ADLaM Display" panose="02010000000000000000" pitchFamily="2" charset="0"/>
                  </a:rPr>
                  <a:t>Members</a:t>
                </a:r>
                <a:endParaRPr lang="en-IN" b="1" dirty="0">
                  <a:solidFill>
                    <a:srgbClr val="333333"/>
                  </a:solidFill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endParaRP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8C7623F-8C89-D13A-CA32-0E378F14E89D}"/>
              </a:ext>
            </a:extLst>
          </p:cNvPr>
          <p:cNvSpPr/>
          <p:nvPr/>
        </p:nvSpPr>
        <p:spPr>
          <a:xfrm>
            <a:off x="-27007" y="0"/>
            <a:ext cx="911909" cy="71283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113F90E-306B-FE81-09D7-CA31D8FDAD99}"/>
              </a:ext>
            </a:extLst>
          </p:cNvPr>
          <p:cNvSpPr/>
          <p:nvPr/>
        </p:nvSpPr>
        <p:spPr>
          <a:xfrm>
            <a:off x="106460" y="137067"/>
            <a:ext cx="658760" cy="646331"/>
          </a:xfrm>
          <a:prstGeom prst="ellipse">
            <a:avLst/>
          </a:prstGeom>
          <a:solidFill>
            <a:srgbClr val="E6D8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2" name="Picture 3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FBA26BB-AC0B-649C-544F-FA8364B575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2020" y="210919"/>
            <a:ext cx="411480" cy="411480"/>
          </a:xfrm>
          <a:prstGeom prst="rect">
            <a:avLst/>
          </a:prstGeom>
        </p:spPr>
      </p:pic>
      <p:pic>
        <p:nvPicPr>
          <p:cNvPr id="36" name="Picture 3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50A24BC-912C-B33F-D8F0-98000FE174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1" y="6263032"/>
            <a:ext cx="411480" cy="411480"/>
          </a:xfrm>
          <a:prstGeom prst="rect">
            <a:avLst/>
          </a:prstGeom>
        </p:spPr>
      </p:pic>
      <p:pic>
        <p:nvPicPr>
          <p:cNvPr id="38" name="Picture 3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6A1BFF28-4953-7395-A86D-DB824E1374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1" y="4750003"/>
            <a:ext cx="411480" cy="411480"/>
          </a:xfrm>
          <a:prstGeom prst="rect">
            <a:avLst/>
          </a:prstGeom>
        </p:spPr>
      </p:pic>
      <p:pic>
        <p:nvPicPr>
          <p:cNvPr id="40" name="Picture 3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1A2DDE9-7B20-1A9E-57BD-AE9646E592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1" y="3236975"/>
            <a:ext cx="411480" cy="411480"/>
          </a:xfrm>
          <a:prstGeom prst="rect">
            <a:avLst/>
          </a:prstGeom>
        </p:spPr>
      </p:pic>
      <p:pic>
        <p:nvPicPr>
          <p:cNvPr id="42" name="Picture 4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BCE0D57-04C4-59BD-8C37-EE1B3AD842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1" y="1723947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65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0E4216-065F-74B4-88C3-6ECB0B55A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E0F19243-5EE6-E5A6-0870-5FE2E502BDC2}"/>
              </a:ext>
            </a:extLst>
          </p:cNvPr>
          <p:cNvSpPr/>
          <p:nvPr/>
        </p:nvSpPr>
        <p:spPr>
          <a:xfrm>
            <a:off x="11021960" y="228601"/>
            <a:ext cx="987159" cy="862780"/>
          </a:xfrm>
          <a:custGeom>
            <a:avLst/>
            <a:gdLst/>
            <a:ahLst/>
            <a:cxnLst/>
            <a:rect l="l" t="t" r="r" b="b"/>
            <a:pathLst>
              <a:path w="1786124" h="1687887">
                <a:moveTo>
                  <a:pt x="0" y="0"/>
                </a:moveTo>
                <a:lnTo>
                  <a:pt x="1786124" y="0"/>
                </a:lnTo>
                <a:lnTo>
                  <a:pt x="1786124" y="1687888"/>
                </a:lnTo>
                <a:lnTo>
                  <a:pt x="0" y="1687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ECCDC0-8ACC-9A29-763C-26E60373C4B4}"/>
              </a:ext>
            </a:extLst>
          </p:cNvPr>
          <p:cNvSpPr txBox="1"/>
          <p:nvPr/>
        </p:nvSpPr>
        <p:spPr>
          <a:xfrm>
            <a:off x="1304297" y="259855"/>
            <a:ext cx="95834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27AE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Problem Statement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DB302D-7965-C72F-775E-E822C1513B56}"/>
              </a:ext>
            </a:extLst>
          </p:cNvPr>
          <p:cNvSpPr txBox="1"/>
          <p:nvPr/>
        </p:nvSpPr>
        <p:spPr>
          <a:xfrm>
            <a:off x="1304297" y="1091381"/>
            <a:ext cx="7377587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33333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Problem:</a:t>
            </a:r>
            <a:br>
              <a:rPr lang="en-US" dirty="0">
                <a:solidFill>
                  <a:srgbClr val="333333"/>
                </a:solidFill>
              </a:rPr>
            </a:br>
            <a:r>
              <a:rPr lang="en-US" dirty="0">
                <a:solidFill>
                  <a:srgbClr val="333333"/>
                </a:solidFill>
              </a:rPr>
              <a:t>In today’s fast-changing world, many individuals possess </a:t>
            </a:r>
            <a:r>
              <a:rPr lang="en-US" b="1" dirty="0">
                <a:solidFill>
                  <a:srgbClr val="333333"/>
                </a:solidFill>
              </a:rPr>
              <a:t>practical, creative, and soft skills</a:t>
            </a:r>
            <a:r>
              <a:rPr lang="en-US" dirty="0">
                <a:solidFill>
                  <a:srgbClr val="333333"/>
                </a:solidFill>
              </a:rPr>
              <a:t> that go </a:t>
            </a:r>
            <a:r>
              <a:rPr lang="en-US" b="1" dirty="0">
                <a:solidFill>
                  <a:srgbClr val="333333"/>
                </a:solidFill>
              </a:rPr>
              <a:t>unrecognized</a:t>
            </a:r>
            <a:r>
              <a:rPr lang="en-US" dirty="0">
                <a:solidFill>
                  <a:srgbClr val="333333"/>
                </a:solidFill>
              </a:rPr>
              <a:t> because traditional certificates focus only on theory.</a:t>
            </a:r>
            <a:br>
              <a:rPr lang="en-US" dirty="0">
                <a:solidFill>
                  <a:srgbClr val="333333"/>
                </a:solidFill>
              </a:rPr>
            </a:br>
            <a:r>
              <a:rPr lang="en-US" dirty="0">
                <a:solidFill>
                  <a:srgbClr val="333333"/>
                </a:solidFill>
              </a:rPr>
              <a:t>As a result, talented people often </a:t>
            </a:r>
            <a:r>
              <a:rPr lang="en-US" b="1" dirty="0">
                <a:solidFill>
                  <a:srgbClr val="333333"/>
                </a:solidFill>
              </a:rPr>
              <a:t>struggle to prove their real abilities</a:t>
            </a:r>
            <a:r>
              <a:rPr lang="en-US" dirty="0">
                <a:solidFill>
                  <a:srgbClr val="333333"/>
                </a:solidFill>
              </a:rPr>
              <a:t> to employers and organizations.</a:t>
            </a:r>
          </a:p>
          <a:p>
            <a:pPr>
              <a:buNone/>
            </a:pPr>
            <a:endParaRPr lang="en-US" sz="2000" dirty="0">
              <a:solidFill>
                <a:srgbClr val="333333"/>
              </a:solidFill>
            </a:endParaRPr>
          </a:p>
          <a:p>
            <a:pPr>
              <a:buNone/>
            </a:pPr>
            <a:r>
              <a:rPr lang="en-US" sz="2200" b="1" dirty="0">
                <a:solidFill>
                  <a:srgbClr val="33333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Importance:</a:t>
            </a:r>
            <a:endParaRPr lang="en-US" sz="2200" dirty="0">
              <a:solidFill>
                <a:srgbClr val="333333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dirty="0"/>
              <a:t>This project addresses the need for a </a:t>
            </a:r>
            <a:r>
              <a:rPr lang="en-US" b="1" dirty="0"/>
              <a:t>peer-to-peer validation platform</a:t>
            </a:r>
            <a:r>
              <a:rPr lang="en-US" dirty="0"/>
              <a:t> where users can </a:t>
            </a:r>
            <a:r>
              <a:rPr lang="en-US" b="1" dirty="0"/>
              <a:t>demonstrate skills</a:t>
            </a:r>
            <a:r>
              <a:rPr lang="en-US" dirty="0"/>
              <a:t>, receive </a:t>
            </a:r>
            <a:r>
              <a:rPr lang="en-US" b="1" dirty="0"/>
              <a:t>authentic endorsements</a:t>
            </a:r>
            <a:r>
              <a:rPr lang="en-US" dirty="0"/>
              <a:t>, and </a:t>
            </a:r>
            <a:r>
              <a:rPr lang="en-US" b="1" dirty="0"/>
              <a:t>gain recognition</a:t>
            </a:r>
            <a:r>
              <a:rPr lang="en-US" dirty="0"/>
              <a:t> through verified digital badges.</a:t>
            </a:r>
          </a:p>
          <a:p>
            <a:endParaRPr lang="en-US" dirty="0">
              <a:solidFill>
                <a:srgbClr val="333333"/>
              </a:solidFill>
            </a:endParaRPr>
          </a:p>
          <a:p>
            <a:r>
              <a:rPr lang="en-US" sz="2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Supporting Facts:</a:t>
            </a:r>
            <a:endParaRPr lang="en-US" sz="2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Only </a:t>
            </a:r>
            <a:r>
              <a:rPr lang="en-US" b="1" dirty="0"/>
              <a:t>46%</a:t>
            </a:r>
            <a:r>
              <a:rPr lang="en-US" dirty="0"/>
              <a:t> of Indian graduates are employable due to lack of practical exposure (India Skills Report, 2024).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70%</a:t>
            </a:r>
            <a:r>
              <a:rPr lang="en-US" dirty="0"/>
              <a:t> of recruiters now value </a:t>
            </a:r>
            <a:r>
              <a:rPr lang="en-US" b="1" dirty="0"/>
              <a:t>skills over degrees</a:t>
            </a:r>
            <a:r>
              <a:rPr lang="en-US" dirty="0"/>
              <a:t> (LinkedIn, 2023).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50%</a:t>
            </a:r>
            <a:r>
              <a:rPr lang="en-US" dirty="0"/>
              <a:t> of employees will need </a:t>
            </a:r>
            <a:r>
              <a:rPr lang="en-US" b="1" dirty="0"/>
              <a:t>reskilling by 2027</a:t>
            </a:r>
            <a:r>
              <a:rPr lang="en-US" dirty="0"/>
              <a:t> (World Economic Forum, 2024).</a:t>
            </a:r>
          </a:p>
          <a:p>
            <a:endParaRPr lang="en-US" sz="2000" dirty="0">
              <a:solidFill>
                <a:srgbClr val="333333"/>
              </a:solidFill>
            </a:endParaRPr>
          </a:p>
        </p:txBody>
      </p:sp>
      <p:pic>
        <p:nvPicPr>
          <p:cNvPr id="36" name="Picture 35" descr="A screenshot of a graph&#10;&#10;AI-generated content may be incorrect.">
            <a:extLst>
              <a:ext uri="{FF2B5EF4-FFF2-40B4-BE49-F238E27FC236}">
                <a16:creationId xmlns:a16="http://schemas.microsoft.com/office/drawing/2014/main" id="{BEF9237C-199E-502B-46AC-073B6E6365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884" y="1238252"/>
            <a:ext cx="3412974" cy="5181598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E34FA66D-BAF3-E776-E8EB-C34F3B3F9C01}"/>
              </a:ext>
            </a:extLst>
          </p:cNvPr>
          <p:cNvSpPr/>
          <p:nvPr/>
        </p:nvSpPr>
        <p:spPr>
          <a:xfrm>
            <a:off x="8823960" y="6278880"/>
            <a:ext cx="1104900" cy="281940"/>
          </a:xfrm>
          <a:prstGeom prst="rect">
            <a:avLst/>
          </a:prstGeom>
          <a:solidFill>
            <a:srgbClr val="FFF9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FD7993-6984-240F-AEA9-674436CF0786}"/>
              </a:ext>
            </a:extLst>
          </p:cNvPr>
          <p:cNvSpPr/>
          <p:nvPr/>
        </p:nvSpPr>
        <p:spPr>
          <a:xfrm>
            <a:off x="-27007" y="0"/>
            <a:ext cx="911909" cy="71283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2D011DB-8035-DA83-3ADB-E2EBB3E773C8}"/>
              </a:ext>
            </a:extLst>
          </p:cNvPr>
          <p:cNvSpPr/>
          <p:nvPr/>
        </p:nvSpPr>
        <p:spPr>
          <a:xfrm>
            <a:off x="97142" y="1606521"/>
            <a:ext cx="658760" cy="646331"/>
          </a:xfrm>
          <a:prstGeom prst="ellipse">
            <a:avLst/>
          </a:prstGeom>
          <a:solidFill>
            <a:srgbClr val="E6D8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5" name="Picture 1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D985A88-CEBB-C821-D9C3-9EBE2B6ECF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2020" y="210919"/>
            <a:ext cx="411480" cy="411480"/>
          </a:xfrm>
          <a:prstGeom prst="rect">
            <a:avLst/>
          </a:prstGeom>
        </p:spPr>
      </p:pic>
      <p:pic>
        <p:nvPicPr>
          <p:cNvPr id="17" name="Picture 1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7AF683C-45DC-90D1-CE9D-21DEA0B3A7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1" y="6263032"/>
            <a:ext cx="411480" cy="411480"/>
          </a:xfrm>
          <a:prstGeom prst="rect">
            <a:avLst/>
          </a:prstGeom>
        </p:spPr>
      </p:pic>
      <p:pic>
        <p:nvPicPr>
          <p:cNvPr id="18" name="Picture 1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1477A63-CB8C-2E79-FCF1-24FDA1D14B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1" y="4750003"/>
            <a:ext cx="411480" cy="411480"/>
          </a:xfrm>
          <a:prstGeom prst="rect">
            <a:avLst/>
          </a:prstGeom>
        </p:spPr>
      </p:pic>
      <p:pic>
        <p:nvPicPr>
          <p:cNvPr id="20" name="Picture 1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E50B345-3A64-237A-1065-EA2744F621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1" y="3236975"/>
            <a:ext cx="411480" cy="411480"/>
          </a:xfrm>
          <a:prstGeom prst="rect">
            <a:avLst/>
          </a:prstGeom>
        </p:spPr>
      </p:pic>
      <p:pic>
        <p:nvPicPr>
          <p:cNvPr id="21" name="Picture 2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FD6C866-7D5B-67C3-411D-B256924CE96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1" y="1723947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671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912439-0B37-0FD1-8840-AC694FA99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AE3E305E-13D2-04E5-445F-D545B629A3AB}"/>
              </a:ext>
            </a:extLst>
          </p:cNvPr>
          <p:cNvSpPr/>
          <p:nvPr/>
        </p:nvSpPr>
        <p:spPr>
          <a:xfrm>
            <a:off x="11021960" y="228601"/>
            <a:ext cx="987159" cy="862780"/>
          </a:xfrm>
          <a:custGeom>
            <a:avLst/>
            <a:gdLst/>
            <a:ahLst/>
            <a:cxnLst/>
            <a:rect l="l" t="t" r="r" b="b"/>
            <a:pathLst>
              <a:path w="1786124" h="1687887">
                <a:moveTo>
                  <a:pt x="0" y="0"/>
                </a:moveTo>
                <a:lnTo>
                  <a:pt x="1786124" y="0"/>
                </a:lnTo>
                <a:lnTo>
                  <a:pt x="1786124" y="1687888"/>
                </a:lnTo>
                <a:lnTo>
                  <a:pt x="0" y="1687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062E1B-0348-FB5D-9CDD-ABD7A8914C56}"/>
              </a:ext>
            </a:extLst>
          </p:cNvPr>
          <p:cNvSpPr txBox="1"/>
          <p:nvPr/>
        </p:nvSpPr>
        <p:spPr>
          <a:xfrm>
            <a:off x="1150311" y="203060"/>
            <a:ext cx="95834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27AE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Proposed 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BBDDA2-8309-2006-A614-7C3E79E44BA1}"/>
              </a:ext>
            </a:extLst>
          </p:cNvPr>
          <p:cNvSpPr txBox="1"/>
          <p:nvPr/>
        </p:nvSpPr>
        <p:spPr>
          <a:xfrm>
            <a:off x="1129399" y="749936"/>
            <a:ext cx="10795886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rgbClr val="33333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Purpose / Idea:</a:t>
            </a:r>
            <a:br>
              <a:rPr lang="en-US" dirty="0">
                <a:solidFill>
                  <a:srgbClr val="33333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en-US" dirty="0">
                <a:solidFill>
                  <a:srgbClr val="333333"/>
                </a:solidFill>
              </a:rPr>
              <a:t>Create a </a:t>
            </a:r>
            <a:r>
              <a:rPr lang="en-US" b="1" dirty="0">
                <a:solidFill>
                  <a:srgbClr val="333333"/>
                </a:solidFill>
              </a:rPr>
              <a:t>peer-to-peer platform</a:t>
            </a:r>
            <a:r>
              <a:rPr lang="en-US" dirty="0">
                <a:solidFill>
                  <a:srgbClr val="333333"/>
                </a:solidFill>
              </a:rPr>
              <a:t> where people can </a:t>
            </a:r>
            <a:r>
              <a:rPr lang="en-US" b="1" dirty="0">
                <a:solidFill>
                  <a:srgbClr val="333333"/>
                </a:solidFill>
              </a:rPr>
              <a:t>show their skills</a:t>
            </a:r>
            <a:r>
              <a:rPr lang="en-US" dirty="0">
                <a:solidFill>
                  <a:srgbClr val="333333"/>
                </a:solidFill>
              </a:rPr>
              <a:t> through small projects or video proofs , and </a:t>
            </a:r>
            <a:r>
              <a:rPr lang="en-US" b="1" dirty="0">
                <a:solidFill>
                  <a:srgbClr val="333333"/>
                </a:solidFill>
              </a:rPr>
              <a:t>get verified by the community</a:t>
            </a:r>
            <a:r>
              <a:rPr lang="en-US" dirty="0">
                <a:solidFill>
                  <a:srgbClr val="333333"/>
                </a:solidFill>
              </a:rPr>
              <a:t>. Verified skills are recorded as </a:t>
            </a:r>
            <a:r>
              <a:rPr lang="en-US" b="1" dirty="0">
                <a:solidFill>
                  <a:srgbClr val="333333"/>
                </a:solidFill>
              </a:rPr>
              <a:t>digital badges</a:t>
            </a:r>
            <a:r>
              <a:rPr lang="en-US" dirty="0">
                <a:solidFill>
                  <a:srgbClr val="333333"/>
                </a:solidFill>
              </a:rPr>
              <a:t> for future recognition.</a:t>
            </a:r>
            <a:endParaRPr lang="en-US" sz="2200" b="1" dirty="0">
              <a:solidFill>
                <a:srgbClr val="333333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200" b="1" dirty="0">
                <a:solidFill>
                  <a:srgbClr val="33333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How It Solves the Problem:</a:t>
            </a:r>
            <a:endParaRPr lang="en-US" sz="2200" dirty="0">
              <a:solidFill>
                <a:srgbClr val="333333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33333"/>
                </a:solidFill>
              </a:rPr>
              <a:t>Provides </a:t>
            </a:r>
            <a:r>
              <a:rPr lang="en-US" b="1" dirty="0">
                <a:solidFill>
                  <a:srgbClr val="333333"/>
                </a:solidFill>
              </a:rPr>
              <a:t>real recognition</a:t>
            </a:r>
            <a:r>
              <a:rPr lang="en-US" dirty="0">
                <a:solidFill>
                  <a:srgbClr val="333333"/>
                </a:solidFill>
              </a:rPr>
              <a:t> for practical, soft, and creative skills.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33333"/>
                </a:solidFill>
              </a:rPr>
              <a:t>Uses </a:t>
            </a:r>
            <a:r>
              <a:rPr lang="en-US" b="1" dirty="0">
                <a:solidFill>
                  <a:srgbClr val="333333"/>
                </a:solidFill>
              </a:rPr>
              <a:t>peer validation</a:t>
            </a:r>
            <a:r>
              <a:rPr lang="en-US" dirty="0">
                <a:solidFill>
                  <a:srgbClr val="333333"/>
                </a:solidFill>
              </a:rPr>
              <a:t> to ensure fairness and authenticity.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333333"/>
                </a:solidFill>
              </a:rPr>
              <a:t>Helps </a:t>
            </a:r>
            <a:r>
              <a:rPr lang="en-US" b="1" dirty="0">
                <a:solidFill>
                  <a:srgbClr val="333333"/>
                </a:solidFill>
              </a:rPr>
              <a:t>employers, clients, and peers</a:t>
            </a:r>
            <a:r>
              <a:rPr lang="en-US" dirty="0">
                <a:solidFill>
                  <a:srgbClr val="333333"/>
                </a:solidFill>
              </a:rPr>
              <a:t> identify true talent.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solidFill>
                <a:srgbClr val="333333"/>
              </a:solidFill>
            </a:endParaRPr>
          </a:p>
          <a:p>
            <a:endParaRPr lang="en-IN" dirty="0">
              <a:solidFill>
                <a:srgbClr val="33333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8773F7-B3F3-8B77-07AC-41FCC2861957}"/>
              </a:ext>
            </a:extLst>
          </p:cNvPr>
          <p:cNvSpPr txBox="1"/>
          <p:nvPr/>
        </p:nvSpPr>
        <p:spPr>
          <a:xfrm>
            <a:off x="1298972" y="3700135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.</a:t>
            </a:r>
          </a:p>
          <a:p>
            <a:endParaRPr lang="en-IN" dirty="0"/>
          </a:p>
        </p:txBody>
      </p:sp>
      <p:pic>
        <p:nvPicPr>
          <p:cNvPr id="17" name="Picture 1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FED43FA-A100-29ED-CEED-A5C432A6C6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447" y="2926080"/>
            <a:ext cx="6750378" cy="46763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0E93DE1-FE37-DEE0-653B-F758B252914A}"/>
              </a:ext>
            </a:extLst>
          </p:cNvPr>
          <p:cNvSpPr txBox="1"/>
          <p:nvPr/>
        </p:nvSpPr>
        <p:spPr>
          <a:xfrm>
            <a:off x="1148065" y="3165917"/>
            <a:ext cx="488130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200" b="1" dirty="0">
                <a:solidFill>
                  <a:srgbClr val="33333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Key Features / Functionalities:</a:t>
            </a:r>
            <a:endParaRPr lang="en-IN" sz="2200" dirty="0">
              <a:solidFill>
                <a:srgbClr val="333333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IN" b="1" dirty="0">
                <a:solidFill>
                  <a:srgbClr val="333333"/>
                </a:solidFill>
              </a:rPr>
              <a:t>User Profiles</a:t>
            </a:r>
            <a:r>
              <a:rPr lang="en-IN" dirty="0">
                <a:solidFill>
                  <a:srgbClr val="333333"/>
                </a:solidFill>
              </a:rPr>
              <a:t> – showcase skills and badges.</a:t>
            </a:r>
          </a:p>
          <a:p>
            <a:r>
              <a:rPr lang="en-IN" b="1" dirty="0">
                <a:solidFill>
                  <a:srgbClr val="333333"/>
                </a:solidFill>
              </a:rPr>
              <a:t>Skill Submission</a:t>
            </a:r>
            <a:r>
              <a:rPr lang="en-IN" dirty="0">
                <a:solidFill>
                  <a:srgbClr val="333333"/>
                </a:solidFill>
              </a:rPr>
              <a:t> – micro-projects, tasks, or video proofs.</a:t>
            </a:r>
          </a:p>
          <a:p>
            <a:r>
              <a:rPr lang="en-IN" b="1" dirty="0">
                <a:solidFill>
                  <a:srgbClr val="333333"/>
                </a:solidFill>
              </a:rPr>
              <a:t>Peer Validation</a:t>
            </a:r>
            <a:r>
              <a:rPr lang="en-IN" dirty="0">
                <a:solidFill>
                  <a:srgbClr val="333333"/>
                </a:solidFill>
              </a:rPr>
              <a:t> – endorsements and reviews by other users.</a:t>
            </a:r>
          </a:p>
          <a:p>
            <a:r>
              <a:rPr lang="en-IN" b="1" dirty="0">
                <a:solidFill>
                  <a:srgbClr val="333333"/>
                </a:solidFill>
              </a:rPr>
              <a:t>Digital Badges / Skill Bank</a:t>
            </a:r>
            <a:r>
              <a:rPr lang="en-IN" dirty="0">
                <a:solidFill>
                  <a:srgbClr val="333333"/>
                </a:solidFill>
              </a:rPr>
              <a:t> – verified skills for portfolio building.</a:t>
            </a:r>
          </a:p>
          <a:p>
            <a:r>
              <a:rPr lang="en-IN" b="1" dirty="0">
                <a:solidFill>
                  <a:srgbClr val="333333"/>
                </a:solidFill>
              </a:rPr>
              <a:t>Fraud Detection &amp; Moderation</a:t>
            </a:r>
            <a:r>
              <a:rPr lang="en-IN" dirty="0">
                <a:solidFill>
                  <a:srgbClr val="333333"/>
                </a:solidFill>
              </a:rPr>
              <a:t> – maintain trust and quality.</a:t>
            </a:r>
          </a:p>
          <a:p>
            <a:r>
              <a:rPr lang="en-IN" b="1" dirty="0">
                <a:solidFill>
                  <a:srgbClr val="333333"/>
                </a:solidFill>
              </a:rPr>
              <a:t>Gamified Leaderboards</a:t>
            </a:r>
            <a:r>
              <a:rPr lang="en-IN" dirty="0">
                <a:solidFill>
                  <a:srgbClr val="333333"/>
                </a:solidFill>
              </a:rPr>
              <a:t> – motivate users to participate.</a:t>
            </a:r>
          </a:p>
          <a:p>
            <a:endParaRPr lang="en-IN" dirty="0">
              <a:solidFill>
                <a:srgbClr val="333333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3AB583-213A-94B5-9A69-68B792362D48}"/>
              </a:ext>
            </a:extLst>
          </p:cNvPr>
          <p:cNvSpPr/>
          <p:nvPr/>
        </p:nvSpPr>
        <p:spPr>
          <a:xfrm>
            <a:off x="-27007" y="0"/>
            <a:ext cx="911909" cy="71283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F9D7A8F-2E8C-3AFF-02F0-1F2ADBDF3B57}"/>
              </a:ext>
            </a:extLst>
          </p:cNvPr>
          <p:cNvSpPr/>
          <p:nvPr/>
        </p:nvSpPr>
        <p:spPr>
          <a:xfrm>
            <a:off x="108380" y="3119549"/>
            <a:ext cx="658760" cy="646331"/>
          </a:xfrm>
          <a:prstGeom prst="ellipse">
            <a:avLst/>
          </a:prstGeom>
          <a:solidFill>
            <a:srgbClr val="E6D8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1085D1D-277D-A0DC-2C23-59EF03CE56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2020" y="210919"/>
            <a:ext cx="411480" cy="411480"/>
          </a:xfrm>
          <a:prstGeom prst="rect">
            <a:avLst/>
          </a:prstGeom>
        </p:spPr>
      </p:pic>
      <p:pic>
        <p:nvPicPr>
          <p:cNvPr id="25" name="Picture 2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66423C4-3FB8-D68A-82E9-4EBB5E857B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1" y="6263032"/>
            <a:ext cx="411480" cy="411480"/>
          </a:xfrm>
          <a:prstGeom prst="rect">
            <a:avLst/>
          </a:prstGeom>
        </p:spPr>
      </p:pic>
      <p:pic>
        <p:nvPicPr>
          <p:cNvPr id="26" name="Picture 2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72316D3-6E76-218F-9CF0-A36F06EDE9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1" y="4750003"/>
            <a:ext cx="411480" cy="411480"/>
          </a:xfrm>
          <a:prstGeom prst="rect">
            <a:avLst/>
          </a:prstGeom>
        </p:spPr>
      </p:pic>
      <p:pic>
        <p:nvPicPr>
          <p:cNvPr id="27" name="Picture 2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3C0C594D-503E-692A-7593-CAEF94962B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1" y="3236975"/>
            <a:ext cx="411480" cy="411480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1AC0F32-9328-3C0E-3449-14FA59861E7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1" y="1723947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062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AD2D03-4E9B-629A-2D4A-7C027A19A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C3195C25-83B2-B49E-7BCE-B39A8E812044}"/>
              </a:ext>
            </a:extLst>
          </p:cNvPr>
          <p:cNvSpPr/>
          <p:nvPr/>
        </p:nvSpPr>
        <p:spPr>
          <a:xfrm>
            <a:off x="11021960" y="228601"/>
            <a:ext cx="987159" cy="862780"/>
          </a:xfrm>
          <a:custGeom>
            <a:avLst/>
            <a:gdLst/>
            <a:ahLst/>
            <a:cxnLst/>
            <a:rect l="l" t="t" r="r" b="b"/>
            <a:pathLst>
              <a:path w="1786124" h="1687887">
                <a:moveTo>
                  <a:pt x="0" y="0"/>
                </a:moveTo>
                <a:lnTo>
                  <a:pt x="1786124" y="0"/>
                </a:lnTo>
                <a:lnTo>
                  <a:pt x="1786124" y="1687888"/>
                </a:lnTo>
                <a:lnTo>
                  <a:pt x="0" y="1687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27EA28-F1BF-EDD9-4BBB-BD05936983C3}"/>
              </a:ext>
            </a:extLst>
          </p:cNvPr>
          <p:cNvSpPr txBox="1"/>
          <p:nvPr/>
        </p:nvSpPr>
        <p:spPr>
          <a:xfrm>
            <a:off x="1304297" y="306048"/>
            <a:ext cx="95834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27AE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Innovation And Uniqueness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F2E04D-D833-B257-31C6-BAADC8592848}"/>
              </a:ext>
            </a:extLst>
          </p:cNvPr>
          <p:cNvSpPr txBox="1"/>
          <p:nvPr/>
        </p:nvSpPr>
        <p:spPr>
          <a:xfrm>
            <a:off x="1321613" y="963141"/>
            <a:ext cx="1096044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33333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What Makes This Idea Different ?</a:t>
            </a:r>
          </a:p>
          <a:p>
            <a:r>
              <a:rPr lang="en-US" sz="2200" b="1" dirty="0">
                <a:solidFill>
                  <a:srgbClr val="333333"/>
                </a:solidFill>
              </a:rPr>
              <a:t>1. Peer-Driven Validation</a:t>
            </a:r>
            <a:endParaRPr lang="en-US" sz="2200" dirty="0">
              <a:solidFill>
                <a:srgbClr val="3333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Skills are verified by </a:t>
            </a:r>
            <a:r>
              <a:rPr lang="en-US" b="1" dirty="0">
                <a:solidFill>
                  <a:srgbClr val="333333"/>
                </a:solidFill>
              </a:rPr>
              <a:t>real users</a:t>
            </a:r>
            <a:r>
              <a:rPr lang="en-US" dirty="0">
                <a:solidFill>
                  <a:srgbClr val="333333"/>
                </a:solidFill>
              </a:rPr>
              <a:t>, not just certificates or automated tests.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Encourages a </a:t>
            </a:r>
            <a:r>
              <a:rPr lang="en-US" b="1" dirty="0">
                <a:solidFill>
                  <a:srgbClr val="333333"/>
                </a:solidFill>
              </a:rPr>
              <a:t>community-based trust system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  <a:p>
            <a:r>
              <a:rPr lang="en-US" sz="2200" b="1" dirty="0">
                <a:solidFill>
                  <a:srgbClr val="333333"/>
                </a:solidFill>
              </a:rPr>
              <a:t>2. Hands-On Skill Proof</a:t>
            </a:r>
            <a:endParaRPr lang="en-US" sz="2200" dirty="0">
              <a:solidFill>
                <a:srgbClr val="3333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Users submit </a:t>
            </a:r>
            <a:r>
              <a:rPr lang="en-US" b="1" dirty="0">
                <a:solidFill>
                  <a:srgbClr val="333333"/>
                </a:solidFill>
              </a:rPr>
              <a:t>micro-projects, tasks, or video demonstrations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Focuses on </a:t>
            </a:r>
            <a:r>
              <a:rPr lang="en-US" b="1" dirty="0">
                <a:solidFill>
                  <a:srgbClr val="333333"/>
                </a:solidFill>
              </a:rPr>
              <a:t>practical ability</a:t>
            </a:r>
            <a:r>
              <a:rPr lang="en-US" dirty="0">
                <a:solidFill>
                  <a:srgbClr val="333333"/>
                </a:solidFill>
              </a:rPr>
              <a:t>, not theory alone.</a:t>
            </a:r>
          </a:p>
          <a:p>
            <a:r>
              <a:rPr lang="en-US" sz="2200" b="1" dirty="0">
                <a:solidFill>
                  <a:srgbClr val="333333"/>
                </a:solidFill>
              </a:rPr>
              <a:t>3. Gamification &amp; Motivation</a:t>
            </a:r>
            <a:endParaRPr lang="en-US" sz="2200" dirty="0">
              <a:solidFill>
                <a:srgbClr val="3333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Leaderboards, badges, and points </a:t>
            </a:r>
            <a:r>
              <a:rPr lang="en-US" b="1" dirty="0">
                <a:solidFill>
                  <a:srgbClr val="333333"/>
                </a:solidFill>
              </a:rPr>
              <a:t>engage users</a:t>
            </a:r>
            <a:r>
              <a:rPr lang="en-US" dirty="0">
                <a:solidFill>
                  <a:srgbClr val="333333"/>
                </a:solidFill>
              </a:rPr>
              <a:t> and reward participation.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Makes skill development </a:t>
            </a:r>
            <a:r>
              <a:rPr lang="en-US" b="1" dirty="0">
                <a:solidFill>
                  <a:srgbClr val="333333"/>
                </a:solidFill>
              </a:rPr>
              <a:t>fun and interactive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C5E7CE-048A-F3DE-1ADD-8789ACFD9ACC}"/>
              </a:ext>
            </a:extLst>
          </p:cNvPr>
          <p:cNvSpPr/>
          <p:nvPr/>
        </p:nvSpPr>
        <p:spPr>
          <a:xfrm>
            <a:off x="10627360" y="4592320"/>
            <a:ext cx="1381759" cy="198120"/>
          </a:xfrm>
          <a:prstGeom prst="rect">
            <a:avLst/>
          </a:prstGeom>
          <a:solidFill>
            <a:srgbClr val="FFF9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188375-89D6-D294-E952-AF1BC89CD1BB}"/>
              </a:ext>
            </a:extLst>
          </p:cNvPr>
          <p:cNvSpPr/>
          <p:nvPr/>
        </p:nvSpPr>
        <p:spPr>
          <a:xfrm>
            <a:off x="-27007" y="0"/>
            <a:ext cx="911909" cy="71283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6158F4E-6763-00DE-34F7-5D284C6529BE}"/>
              </a:ext>
            </a:extLst>
          </p:cNvPr>
          <p:cNvSpPr/>
          <p:nvPr/>
        </p:nvSpPr>
        <p:spPr>
          <a:xfrm>
            <a:off x="99567" y="4632577"/>
            <a:ext cx="658760" cy="646331"/>
          </a:xfrm>
          <a:prstGeom prst="ellipse">
            <a:avLst/>
          </a:prstGeom>
          <a:solidFill>
            <a:srgbClr val="E6D8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1" name="Picture 2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A9DB1D3-2548-D3CE-C8B0-45E2BDF491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2020" y="210919"/>
            <a:ext cx="411480" cy="411480"/>
          </a:xfrm>
          <a:prstGeom prst="rect">
            <a:avLst/>
          </a:prstGeom>
        </p:spPr>
      </p:pic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492CC8E-7D84-65C0-DD7E-694A4676DC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1" y="6263032"/>
            <a:ext cx="411480" cy="411480"/>
          </a:xfrm>
          <a:prstGeom prst="rect">
            <a:avLst/>
          </a:prstGeom>
        </p:spPr>
      </p:pic>
      <p:pic>
        <p:nvPicPr>
          <p:cNvPr id="24" name="Picture 2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8C39ED3-D55A-3A33-A63E-FA3EAE0BA9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1" y="4750003"/>
            <a:ext cx="411480" cy="411480"/>
          </a:xfrm>
          <a:prstGeom prst="rect">
            <a:avLst/>
          </a:prstGeom>
        </p:spPr>
      </p:pic>
      <p:pic>
        <p:nvPicPr>
          <p:cNvPr id="25" name="Picture 2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03C1FBF-7700-E274-C7C1-280150A95A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1" y="3236975"/>
            <a:ext cx="411480" cy="411480"/>
          </a:xfrm>
          <a:prstGeom prst="rect">
            <a:avLst/>
          </a:prstGeom>
        </p:spPr>
      </p:pic>
      <p:pic>
        <p:nvPicPr>
          <p:cNvPr id="26" name="Picture 2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2D30C67-E489-8413-CB7E-71161D39F2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1" y="1723947"/>
            <a:ext cx="411480" cy="41148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7D0687D-81DA-3CC3-2EAD-AC63C4A6533A}"/>
              </a:ext>
            </a:extLst>
          </p:cNvPr>
          <p:cNvSpPr txBox="1"/>
          <p:nvPr/>
        </p:nvSpPr>
        <p:spPr>
          <a:xfrm>
            <a:off x="1321614" y="3982521"/>
            <a:ext cx="1068750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Business Innovation Points</a:t>
            </a:r>
          </a:p>
          <a:p>
            <a:r>
              <a:rPr lang="en-US" b="1" dirty="0"/>
              <a:t>New Market Opportunity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Targets </a:t>
            </a:r>
            <a:r>
              <a:rPr lang="en-US" b="1" dirty="0"/>
              <a:t>unrecognized talent</a:t>
            </a:r>
            <a:r>
              <a:rPr lang="en-US" dirty="0"/>
              <a:t> in India and globally (students, freelancers, self-learners).</a:t>
            </a:r>
          </a:p>
          <a:p>
            <a:r>
              <a:rPr lang="en-US" b="1" dirty="0"/>
              <a:t>Skill Monetization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Verified skills can be used for </a:t>
            </a:r>
            <a:r>
              <a:rPr lang="en-US" b="1" dirty="0"/>
              <a:t>freelancing, job applications, or micro-task platforms</a:t>
            </a:r>
            <a:r>
              <a:rPr lang="en-US" dirty="0"/>
              <a:t>.</a:t>
            </a:r>
          </a:p>
          <a:p>
            <a:r>
              <a:rPr lang="en-US" b="1" dirty="0"/>
              <a:t>Community-Driven Trust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Reduces dependency on </a:t>
            </a:r>
            <a:r>
              <a:rPr lang="en-US" b="1" dirty="0"/>
              <a:t>formal institutions</a:t>
            </a:r>
            <a:r>
              <a:rPr lang="en-US" dirty="0"/>
              <a:t>; relies on </a:t>
            </a:r>
            <a:r>
              <a:rPr lang="en-US" b="1" dirty="0"/>
              <a:t>peer validation</a:t>
            </a:r>
            <a:r>
              <a:rPr lang="en-US" dirty="0"/>
              <a:t>, lowering operational costs.</a:t>
            </a:r>
          </a:p>
          <a:p>
            <a:r>
              <a:rPr lang="en-US" b="1" dirty="0"/>
              <a:t>Brand Differentiation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Novel and </a:t>
            </a:r>
            <a:r>
              <a:rPr lang="en-US" b="1" dirty="0"/>
              <a:t>first-of-its-kind platform in India</a:t>
            </a:r>
            <a:r>
              <a:rPr lang="en-US" dirty="0"/>
              <a:t> for practical skill recognition.</a:t>
            </a:r>
          </a:p>
        </p:txBody>
      </p:sp>
    </p:spTree>
    <p:extLst>
      <p:ext uri="{BB962C8B-B14F-4D97-AF65-F5344CB8AC3E}">
        <p14:creationId xmlns:p14="http://schemas.microsoft.com/office/powerpoint/2010/main" val="700235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400FF4-3CF6-9F2B-DF36-35482359F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>
            <a:extLst>
              <a:ext uri="{FF2B5EF4-FFF2-40B4-BE49-F238E27FC236}">
                <a16:creationId xmlns:a16="http://schemas.microsoft.com/office/drawing/2014/main" id="{9E7C814A-AE0D-DA5C-BD8C-FB409269FB1E}"/>
              </a:ext>
            </a:extLst>
          </p:cNvPr>
          <p:cNvSpPr/>
          <p:nvPr/>
        </p:nvSpPr>
        <p:spPr>
          <a:xfrm>
            <a:off x="11021960" y="228601"/>
            <a:ext cx="987159" cy="862780"/>
          </a:xfrm>
          <a:custGeom>
            <a:avLst/>
            <a:gdLst/>
            <a:ahLst/>
            <a:cxnLst/>
            <a:rect l="l" t="t" r="r" b="b"/>
            <a:pathLst>
              <a:path w="1786124" h="1687887">
                <a:moveTo>
                  <a:pt x="0" y="0"/>
                </a:moveTo>
                <a:lnTo>
                  <a:pt x="1786124" y="0"/>
                </a:lnTo>
                <a:lnTo>
                  <a:pt x="1786124" y="1687888"/>
                </a:lnTo>
                <a:lnTo>
                  <a:pt x="0" y="16878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0D8BEC-74D0-4799-8CFC-E6F50B1235E9}"/>
              </a:ext>
            </a:extLst>
          </p:cNvPr>
          <p:cNvSpPr txBox="1"/>
          <p:nvPr/>
        </p:nvSpPr>
        <p:spPr>
          <a:xfrm>
            <a:off x="1287794" y="239744"/>
            <a:ext cx="95834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rgbClr val="27AE6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Potential Impact &amp; Target Users</a:t>
            </a:r>
            <a:endParaRPr lang="en-IN" sz="4000" b="1" dirty="0">
              <a:solidFill>
                <a:srgbClr val="27AE6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0C8746-7B03-5E83-4FAF-F4711CFF14AE}"/>
              </a:ext>
            </a:extLst>
          </p:cNvPr>
          <p:cNvSpPr txBox="1"/>
          <p:nvPr/>
        </p:nvSpPr>
        <p:spPr>
          <a:xfrm>
            <a:off x="1287794" y="1091381"/>
            <a:ext cx="839012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33333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Target Users :</a:t>
            </a:r>
            <a:endParaRPr lang="en-US" sz="2200" dirty="0">
              <a:solidFill>
                <a:srgbClr val="333333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33333"/>
                </a:solidFill>
              </a:rPr>
              <a:t>Students &amp; Graduates:</a:t>
            </a:r>
            <a:r>
              <a:rPr lang="en-US" dirty="0">
                <a:solidFill>
                  <a:srgbClr val="333333"/>
                </a:solidFill>
              </a:rPr>
              <a:t> Showcase skills beyond formal degrees.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33333"/>
                </a:solidFill>
              </a:rPr>
              <a:t>Freelancers &amp; Creatives:</a:t>
            </a:r>
            <a:r>
              <a:rPr lang="en-US" dirty="0">
                <a:solidFill>
                  <a:srgbClr val="333333"/>
                </a:solidFill>
              </a:rPr>
              <a:t> Gain credibility for work done independently.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33333"/>
                </a:solidFill>
              </a:rPr>
              <a:t>Job Seekers:</a:t>
            </a:r>
            <a:r>
              <a:rPr lang="en-US" dirty="0">
                <a:solidFill>
                  <a:srgbClr val="333333"/>
                </a:solidFill>
              </a:rPr>
              <a:t> Increase employability through verified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33333"/>
                </a:solidFill>
              </a:rPr>
              <a:t>Employers &amp; Recruiters:</a:t>
            </a:r>
            <a:r>
              <a:rPr lang="en-US" dirty="0">
                <a:solidFill>
                  <a:srgbClr val="333333"/>
                </a:solidFill>
              </a:rPr>
              <a:t> Identify authentic talent efficiently.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33333"/>
                </a:solidFill>
              </a:rPr>
              <a:t>Training Institutes &amp; Educators:</a:t>
            </a:r>
            <a:r>
              <a:rPr lang="en-US" dirty="0">
                <a:solidFill>
                  <a:srgbClr val="333333"/>
                </a:solidFill>
              </a:rPr>
              <a:t> Track and validate student progress.</a:t>
            </a:r>
          </a:p>
          <a:p>
            <a:endParaRPr lang="en-IN" dirty="0">
              <a:solidFill>
                <a:srgbClr val="333333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274B11-BDBE-45EE-7BE1-C8E924BB366C}"/>
              </a:ext>
            </a:extLst>
          </p:cNvPr>
          <p:cNvSpPr txBox="1"/>
          <p:nvPr/>
        </p:nvSpPr>
        <p:spPr>
          <a:xfrm>
            <a:off x="1287794" y="2977360"/>
            <a:ext cx="1066800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333333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Expected Positive Outcomes:</a:t>
            </a:r>
            <a:endParaRPr lang="en-US" sz="2200" dirty="0">
              <a:solidFill>
                <a:srgbClr val="333333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sz="2200" b="1" dirty="0">
                <a:solidFill>
                  <a:srgbClr val="333333"/>
                </a:solidFill>
              </a:rPr>
              <a:t>Social Impact:</a:t>
            </a:r>
            <a:endParaRPr lang="en-US" sz="2200" dirty="0">
              <a:solidFill>
                <a:srgbClr val="3333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Recognizes hidden talents and promotes </a:t>
            </a:r>
            <a:r>
              <a:rPr lang="en-US" b="1" dirty="0">
                <a:solidFill>
                  <a:srgbClr val="333333"/>
                </a:solidFill>
              </a:rPr>
              <a:t>inclusive skill development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Encourages a </a:t>
            </a:r>
            <a:r>
              <a:rPr lang="en-US" b="1" dirty="0">
                <a:solidFill>
                  <a:srgbClr val="333333"/>
                </a:solidFill>
              </a:rPr>
              <a:t>community-driven learning and validation culture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  <a:p>
            <a:r>
              <a:rPr lang="en-US" sz="2200" b="1" dirty="0">
                <a:solidFill>
                  <a:srgbClr val="333333"/>
                </a:solidFill>
              </a:rPr>
              <a:t>Technical Impact:</a:t>
            </a:r>
            <a:endParaRPr lang="en-US" sz="2200" dirty="0">
              <a:solidFill>
                <a:srgbClr val="3333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Introduces a </a:t>
            </a:r>
            <a:r>
              <a:rPr lang="en-US" b="1" dirty="0">
                <a:solidFill>
                  <a:srgbClr val="333333"/>
                </a:solidFill>
              </a:rPr>
              <a:t>digital, gamified, and peer-validated system</a:t>
            </a:r>
            <a:r>
              <a:rPr lang="en-US" dirty="0">
                <a:solidFill>
                  <a:srgbClr val="333333"/>
                </a:solidFill>
              </a:rPr>
              <a:t> for skill recognition.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Ensures </a:t>
            </a:r>
            <a:r>
              <a:rPr lang="en-US" b="1" dirty="0">
                <a:solidFill>
                  <a:srgbClr val="333333"/>
                </a:solidFill>
              </a:rPr>
              <a:t>secure, scalable, and reliable skill validation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  <a:p>
            <a:r>
              <a:rPr lang="en-US" sz="2200" b="1" dirty="0">
                <a:solidFill>
                  <a:srgbClr val="333333"/>
                </a:solidFill>
              </a:rPr>
              <a:t>Commercial / Business Impact:</a:t>
            </a:r>
            <a:endParaRPr lang="en-US" sz="2200" dirty="0">
              <a:solidFill>
                <a:srgbClr val="3333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Opens a </a:t>
            </a:r>
            <a:r>
              <a:rPr lang="en-US" b="1" dirty="0">
                <a:solidFill>
                  <a:srgbClr val="333333"/>
                </a:solidFill>
              </a:rPr>
              <a:t>new market for skill verification platforms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Enables </a:t>
            </a:r>
            <a:r>
              <a:rPr lang="en-US" b="1" dirty="0">
                <a:solidFill>
                  <a:srgbClr val="333333"/>
                </a:solidFill>
              </a:rPr>
              <a:t>career opportunities, freelancing, and partnerships with educational institutions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</a:rPr>
              <a:t>Supports </a:t>
            </a:r>
            <a:r>
              <a:rPr lang="en-US" b="1" dirty="0">
                <a:solidFill>
                  <a:srgbClr val="333333"/>
                </a:solidFill>
              </a:rPr>
              <a:t>digital credentialing and potential monetization of verified skills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  <a:p>
            <a:endParaRPr lang="en-IN" dirty="0">
              <a:solidFill>
                <a:srgbClr val="333333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2AB3D5-6431-C815-9FB8-BB50CD587844}"/>
              </a:ext>
            </a:extLst>
          </p:cNvPr>
          <p:cNvSpPr/>
          <p:nvPr/>
        </p:nvSpPr>
        <p:spPr>
          <a:xfrm>
            <a:off x="-27007" y="0"/>
            <a:ext cx="911909" cy="71283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E473681-DDC3-130E-1F1B-AE566367315D}"/>
              </a:ext>
            </a:extLst>
          </p:cNvPr>
          <p:cNvSpPr/>
          <p:nvPr/>
        </p:nvSpPr>
        <p:spPr>
          <a:xfrm>
            <a:off x="98208" y="6145606"/>
            <a:ext cx="658760" cy="646331"/>
          </a:xfrm>
          <a:prstGeom prst="ellipse">
            <a:avLst/>
          </a:prstGeom>
          <a:solidFill>
            <a:srgbClr val="E6D8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6" name="Picture 1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A861593-ABDB-E3ED-9647-0FE50DA2AD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2020" y="210919"/>
            <a:ext cx="411480" cy="411480"/>
          </a:xfrm>
          <a:prstGeom prst="rect">
            <a:avLst/>
          </a:prstGeom>
        </p:spPr>
      </p:pic>
      <p:pic>
        <p:nvPicPr>
          <p:cNvPr id="18" name="Picture 1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2411E72-C40A-5467-5FA5-D979AC617A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1" y="6263032"/>
            <a:ext cx="411480" cy="411480"/>
          </a:xfrm>
          <a:prstGeom prst="rect">
            <a:avLst/>
          </a:prstGeom>
        </p:spPr>
      </p:pic>
      <p:pic>
        <p:nvPicPr>
          <p:cNvPr id="20" name="Picture 19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5984EC7-9239-08F2-1237-8FAC233A9F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1" y="4750003"/>
            <a:ext cx="411480" cy="411480"/>
          </a:xfrm>
          <a:prstGeom prst="rect">
            <a:avLst/>
          </a:prstGeom>
        </p:spPr>
      </p:pic>
      <p:pic>
        <p:nvPicPr>
          <p:cNvPr id="21" name="Picture 2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0C7BF11-83B3-CE88-337A-AF514FD371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1" y="3236975"/>
            <a:ext cx="411480" cy="411480"/>
          </a:xfrm>
          <a:prstGeom prst="rect">
            <a:avLst/>
          </a:prstGeom>
        </p:spPr>
      </p:pic>
      <p:pic>
        <p:nvPicPr>
          <p:cNvPr id="22" name="Picture 2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9CAE426-4F14-9EB3-6A50-9C4FE4949B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21" y="1723947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659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654</Words>
  <Application>Microsoft Office PowerPoint</Application>
  <PresentationFormat>Widescreen</PresentationFormat>
  <Paragraphs>91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ADLaM Display</vt:lpstr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  Nimmalwar</dc:creator>
  <cp:lastModifiedBy>Om  Nimmalwar</cp:lastModifiedBy>
  <cp:revision>6</cp:revision>
  <dcterms:created xsi:type="dcterms:W3CDTF">2025-10-15T17:13:21Z</dcterms:created>
  <dcterms:modified xsi:type="dcterms:W3CDTF">2025-10-18T11:00:11Z</dcterms:modified>
</cp:coreProperties>
</file>